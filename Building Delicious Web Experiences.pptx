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ABAB"/>
    <a:srgbClr val="B15E50"/>
    <a:srgbClr val="9C5042"/>
    <a:srgbClr val="590600"/>
    <a:srgbClr val="D88D84"/>
    <a:srgbClr val="E298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F2754-A48F-44E0-811E-492A9376B0EA}" v="1120" dt="2025-09-27T13:40:18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712" autoAdjust="0"/>
  </p:normalViewPr>
  <p:slideViewPr>
    <p:cSldViewPr snapToGrid="0">
      <p:cViewPr varScale="1">
        <p:scale>
          <a:sx n="59" d="100"/>
          <a:sy n="59" d="100"/>
        </p:scale>
        <p:origin x="9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511B8-7D44-4623-B215-04B1667E720B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8B5F9-CCCA-424D-8B3E-D3814340E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morning/afternoon, everyone!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I'm excited to take you behind the scenes of a website we've built, focusing on a delightful topic: frozen desserts! We'll explore how it works, the technologies we used, and what the future might hold for it.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this as a masterclass in building simple, effective websites using the foundational languages of the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4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what are we looking at? This website is all about celebrating amazing frozen desserts!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main goal was to make it super simple and fun for anyone to explore.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wanted to introduce you to cool treats like Italian Gelato, Korean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refreshing Ice Pops.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we'll cover what you can do on the site, the core technologies we used to build it – which are HTML and CSS – and then we'll brainstorm some exciting ideas for how it could grow even bigger and better in the future."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49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talk about what users can actually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they visit our site.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off, they can get introduced to these wonderful desserts right on the homepage.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if they're curious about how to make them, or just want to know more, they can click over to specific recipe pages.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We've also made sure there are clear links to other important sections like a full Menu, a Contact page if they want to get in touch, and an About Us page to learn more about who's behind this sweet venture.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might also notice a special banner up top – it’s a way to highlight current promotions or news!"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11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91A3F-015F-E51E-A93D-AEF6A2AB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28A2C-733B-517B-9F3A-E4477F6B3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D642B-F633-C7D2-07A7-4CF7851E3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dive a little deeper into the content.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homepage, we give you a little 'taste' of what Gelato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all about, explaining their unique qualities – like Gelato being Italian, super smooth,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being a refreshing Korean shaved ice treat.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from the homepage or the main navigation, you can jump directly to detailed recipe pages for Gelato,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Bingsu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Ice Pops.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navigation is designed to be super intuitive, with clear links to Recipes, Menu, Contact, and About Us, and then more specific recipe links once you're in the recipe section."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BBDF3-86CF-97E5-F3B4-0EFE2D026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3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DBAA1-02B1-F21C-B03D-E0234335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26FF9-5287-53F0-1094-4B75CD8D8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BD626-CCA9-E394-24A8-B302EBC8C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let's peek under the hood! The foundation of any website is HTML.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using HTML tags like &lt;header&gt; for the top part of the page, &lt;nav&gt; for navigation menus, &lt;main&gt; for the core content, and so 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makes the site not only organized for us developers but also much better for search engines.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use headings, paragraphs, and lists to organize text, and crucially, &lt;a&gt; tags to create all the links that let you move around the site."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DF8F3-B7A9-5944-72F2-069E3E4DD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37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B673-078A-4927-CEDD-20F6D7D6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688F7-EFD5-33EB-B9A5-708FA36F7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93114-2504-A10B-800C-CBA5C88FD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HTML is the skeleton, CSS is the skin, the clothes, and the makeup!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 makes our website look good. It's responsible for all the visual aspects.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CSS to pick our color schemes.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choose the fonts to make the text readable and appealing. CSS also handles all the spacing between paragraphs, or around images.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Importantly, it controls the layout, telling elements where to sit on the page. Even though this site is simple, CSS helps make it look clean and professional"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26090-F1C2-B93D-B726-165442BD5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79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59AD5-026D-4CD0-88D0-10529B4F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8B2C2-FD03-695B-C287-E5A239D2F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F7AEA-A71F-7CAC-3A8C-E485CD96B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our HTML/CSS site is great, there's always room to grow! The most obvious next step is to introduce JavaScript.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will unlock a world of possibilities. Imagine interactive recipe guides where you can check off steps, or ingredient calculators that adjust quantities.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could add beautiful image galleries to really make the desserts pop!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could also add a search bar so you can instantly find that perfect ice pop recipe.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 make it a true platform, we could build a contact form so users can easily message us or even allow them to submit their own creations! These are just a few ideas to make our dessert site even more engaging and useful."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84062-C12A-EBF7-4ADA-9C4C83C6D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07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CEF7B-E0D7-7B5D-4093-1246FF21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A7160-3BA2-E0E0-24AA-37FF29D14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BBAE2-72F7-35E1-43DD-F48093955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to wrap things up, we've taken a deep dive into our frozen dessert website.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We've seen how it functions, appreciated its clean design, and understood the fundamental role of HTML and CSS in building it.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message is that even with just these core technologies, you can create a functional and appealing website.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shows the journey from a basic structure to thinking about advanced features.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all for your attention! I'm now happy to open the floor for any questions you might have."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7E326-0BC1-2C5A-93D9-7DC502A19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2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ED4B-4C05-8CF0-8F1F-AA595BC8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204E7-20AE-588C-607B-065B9530E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785F7-DC43-9FA8-0C91-4D51D521B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Speaking Notes: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“Thank you all for listening!”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83209-970B-47D6-44AE-62A051A6E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8B5F9-CCCA-424D-8B3E-D3814340ED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3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0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33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7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87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0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87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1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0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9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3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28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eo 3" descr="Scooping Ice Cream">
            <a:extLst>
              <a:ext uri="{FF2B5EF4-FFF2-40B4-BE49-F238E27FC236}">
                <a16:creationId xmlns:a16="http://schemas.microsoft.com/office/drawing/2014/main" id="{E530A836-787B-26F4-3650-BBC913EF10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lum bright="-7000"/>
          </a:blip>
          <a:srcRect r="-1" b="258"/>
          <a:stretch>
            <a:fillRect/>
          </a:stretch>
        </p:blipFill>
        <p:spPr>
          <a:xfrm rot="10800000">
            <a:off x="0" y="0"/>
            <a:ext cx="12188951" cy="68385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6A2489-2C6E-B7C2-097C-D7E60FE80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9645635" cy="2916472"/>
          </a:xfrm>
        </p:spPr>
        <p:txBody>
          <a:bodyPr anchor="b">
            <a:normAutofit fontScale="90000"/>
          </a:bodyPr>
          <a:lstStyle/>
          <a:p>
            <a:r>
              <a:rPr lang="en-US" i="1" dirty="0">
                <a:ln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Building Delicious Web Experiences: A Look at Our Frozen Treats </a:t>
            </a:r>
            <a:endParaRPr lang="en-US" sz="4800" i="1" dirty="0">
              <a:ln>
                <a:solidFill>
                  <a:schemeClr val="bg1"/>
                </a:solidFill>
              </a:ln>
              <a:solidFill>
                <a:schemeClr val="tx2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masis MT Pro Medium" panose="020406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22598-D5F5-4B6A-D8F6-1C8D3BF40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078794"/>
            <a:ext cx="8762766" cy="1900842"/>
          </a:xfrm>
        </p:spPr>
        <p:txBody>
          <a:bodyPr anchor="t">
            <a:normAutofit/>
          </a:bodyPr>
          <a:lstStyle/>
          <a:p>
            <a:r>
              <a:rPr lang="en-US" sz="3600" b="1" i="0" dirty="0">
                <a:ln w="9525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LE MINH DANH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8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927 0.00185 L 8.33333E-7 2.59259E-6 " pathEditMode="relative" rAng="0" ptsTypes="AA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64" y="-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586 0.22893 L -0.29687 0.05578 C -0.27435 0.01689 -0.24049 -0.00278 -0.20455 -0.00278 C -0.16406 -0.00278 -0.13151 0.01689 -0.10898 0.05578 L -2.70833E-6 0.22893 " pathEditMode="relative" rAng="0" ptsTypes="AAAAA">
                                      <p:cBhvr>
                                        <p:cTn id="13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99" y="-11597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ABAB"/>
            </a:gs>
            <a:gs pos="53000">
              <a:srgbClr val="E2988E"/>
            </a:gs>
            <a:gs pos="85000">
              <a:srgbClr val="B15E50"/>
            </a:gs>
            <a:gs pos="100000">
              <a:srgbClr val="5906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eo 3" descr="Scooping Ice Cream">
            <a:extLst>
              <a:ext uri="{FF2B5EF4-FFF2-40B4-BE49-F238E27FC236}">
                <a16:creationId xmlns:a16="http://schemas.microsoft.com/office/drawing/2014/main" id="{E530A836-787B-26F4-3650-BBC913EF10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lum bright="-7000"/>
          </a:blip>
          <a:srcRect r="-1" b="258"/>
          <a:stretch>
            <a:fillRect/>
          </a:stretch>
        </p:blipFill>
        <p:spPr>
          <a:xfrm rot="10800000">
            <a:off x="0" y="0"/>
            <a:ext cx="12188951" cy="68385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6A2489-2C6E-B7C2-097C-D7E60FE80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9645635" cy="2916472"/>
          </a:xfrm>
        </p:spPr>
        <p:txBody>
          <a:bodyPr anchor="b">
            <a:normAutofit fontScale="90000"/>
          </a:bodyPr>
          <a:lstStyle/>
          <a:p>
            <a:r>
              <a:rPr lang="en-US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Building Delicious Web Experiences: A Look at Our Frozen Treats </a:t>
            </a:r>
            <a:endParaRPr lang="en-US" sz="4800" i="1" dirty="0">
              <a:ln>
                <a:solidFill>
                  <a:schemeClr val="bg1"/>
                </a:solidFill>
              </a:ln>
              <a:solidFill>
                <a:schemeClr val="tx2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masis MT Pro Medium" panose="020406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22598-D5F5-4B6A-D8F6-1C8D3BF40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650" y="5662848"/>
            <a:ext cx="8762766" cy="1900842"/>
          </a:xfrm>
        </p:spPr>
        <p:txBody>
          <a:bodyPr anchor="t">
            <a:normAutofit/>
          </a:bodyPr>
          <a:lstStyle/>
          <a:p>
            <a:r>
              <a:rPr lang="en-US" sz="3600" b="1" i="0" dirty="0">
                <a:ln w="9525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LE MINH DANH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DC77D-BF59-31BF-A658-F64FBEDECD84}"/>
              </a:ext>
            </a:extLst>
          </p:cNvPr>
          <p:cNvSpPr txBox="1"/>
          <p:nvPr/>
        </p:nvSpPr>
        <p:spPr>
          <a:xfrm>
            <a:off x="333702" y="172232"/>
            <a:ext cx="83657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8000" b="1" i="1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masis MT Pro Medium" panose="02040604050005020304" pitchFamily="18" charset="0"/>
                <a:ea typeface="+mj-ea"/>
                <a:cs typeface="+mj-cs"/>
              </a:rPr>
              <a:t>See</a:t>
            </a:r>
            <a:r>
              <a:rPr kumimoji="0" lang="en-US" sz="8000" b="1" i="1" u="none" strike="noStrike" kern="1200" cap="none" spc="0" normalizeH="0" noProof="0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masis MT Pro Medium" panose="02040604050005020304" pitchFamily="18" charset="0"/>
                <a:ea typeface="+mj-ea"/>
                <a:cs typeface="+mj-cs"/>
              </a:rPr>
              <a:t> Our Sweet Creations!</a:t>
            </a:r>
            <a:endParaRPr lang="en-US" sz="8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B1AC9-1C39-DC65-E9A7-B46FE1F7C938}"/>
              </a:ext>
            </a:extLst>
          </p:cNvPr>
          <p:cNvSpPr txBox="1"/>
          <p:nvPr/>
        </p:nvSpPr>
        <p:spPr>
          <a:xfrm>
            <a:off x="517868" y="2532819"/>
            <a:ext cx="11671083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•</a:t>
            </a: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  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What is this website? A digital showcase for delicious frozen desserts like Gelato, </a:t>
            </a:r>
            <a:r>
              <a:rPr kumimoji="0" lang="en-US" sz="2100" b="1" i="0" u="none" strike="noStrike" kern="1200" cap="none" spc="0" normalizeH="0" baseline="0" noProof="0" dirty="0" err="1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Bingsu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, and Ice Pops.</a:t>
            </a:r>
          </a:p>
          <a:p>
            <a:pPr lvl="0">
              <a:spcBef>
                <a:spcPts val="1000"/>
              </a:spcBef>
              <a:defRPr/>
            </a:pP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•</a:t>
            </a:r>
            <a:r>
              <a:rPr kumimoji="0" lang="en-US" sz="2100" b="1" i="0" u="none" strike="noStrike" kern="1200" cap="none" spc="0" normalizeH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  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Our Goals: To create an inviting, easy-to-navigate space where users can discover and learn about </a:t>
            </a: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these treats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•</a:t>
            </a:r>
            <a:r>
              <a:rPr kumimoji="0" lang="en-US" sz="2100" b="1" i="0" u="none" strike="noStrike" kern="1200" cap="none" spc="0" normalizeH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  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Key Focus: Introducing the unique appeal of each dessert.</a:t>
            </a:r>
          </a:p>
          <a:p>
            <a:pPr marL="0" marR="0" lvl="0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•</a:t>
            </a:r>
            <a:r>
              <a:rPr kumimoji="0" lang="en-US" sz="2100" b="1" i="0" u="none" strike="noStrike" kern="1200" cap="none" spc="0" normalizeH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  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Presentation Roadmap: </a:t>
            </a:r>
          </a:p>
          <a:p>
            <a:pPr marL="0" marR="0" lvl="0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1.</a:t>
            </a:r>
            <a:r>
              <a:rPr kumimoji="0" lang="en-US" sz="2100" b="1" i="0" u="none" strike="noStrike" kern="1200" cap="none" spc="0" normalizeH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  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Website Functions</a:t>
            </a:r>
          </a:p>
          <a:p>
            <a:pPr marL="0" marR="0" lvl="0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2.</a:t>
            </a:r>
            <a:r>
              <a:rPr kumimoji="0" lang="en-US" sz="2100" b="1" i="0" u="none" strike="noStrike" kern="1200" cap="none" spc="0" normalizeH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  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The Code Behind It (HTML &amp; CSS)</a:t>
            </a:r>
          </a:p>
          <a:p>
            <a:pPr marL="0" marR="0" lvl="0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3.</a:t>
            </a:r>
            <a:r>
              <a:rPr kumimoji="0" lang="en-US" sz="2100" b="1" i="0" u="none" strike="noStrike" kern="1200" cap="none" spc="0" normalizeH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  </a:t>
            </a:r>
            <a:r>
              <a:rPr kumimoji="0" lang="en-US" sz="2100" b="1" i="0" u="none" strike="noStrike" kern="1200" cap="none" spc="0" normalizeH="0" baseline="0" noProof="0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ierstadt Display" panose="020F0502020204030204" pitchFamily="34" charset="0"/>
              </a:rPr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233592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ABAB"/>
            </a:gs>
            <a:gs pos="53000">
              <a:srgbClr val="E2988E"/>
            </a:gs>
            <a:gs pos="85000">
              <a:srgbClr val="B15E50"/>
            </a:gs>
            <a:gs pos="100000">
              <a:srgbClr val="5906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B1AC9-1C39-DC65-E9A7-B46FE1F7C938}"/>
              </a:ext>
            </a:extLst>
          </p:cNvPr>
          <p:cNvSpPr txBox="1"/>
          <p:nvPr/>
        </p:nvSpPr>
        <p:spPr>
          <a:xfrm>
            <a:off x="517868" y="2532819"/>
            <a:ext cx="11671083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What is this website? A digital showcase for delicious frozen desserts like Gelato, </a:t>
            </a:r>
            <a:r>
              <a:rPr lang="en-US" sz="2100" b="1" dirty="0" err="1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, and Ice Pops.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Our Goals: To create an inviting, easy-to-navigate space where users can discover and learn about these treats.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Key Focus: Introducing the unique appeal of each dessert.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Presentation Roadmap: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1.  Website Functions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2.  The Code Behind It (HTML &amp; CSS)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3.  Future </a:t>
            </a:r>
            <a:r>
              <a:rPr lang="en-US" sz="2100" b="1" dirty="0">
                <a:ln w="0">
                  <a:solidFill>
                    <a:schemeClr val="bg1">
                      <a:alpha val="42000"/>
                    </a:scheme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Enhancements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A2489-2C6E-B7C2-097C-D7E60FE80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702" y="-191826"/>
            <a:ext cx="9645635" cy="2872883"/>
          </a:xfrm>
        </p:spPr>
        <p:txBody>
          <a:bodyPr anchor="b">
            <a:noAutofit/>
          </a:bodyPr>
          <a:lstStyle/>
          <a:p>
            <a:r>
              <a:rPr lang="en-US" sz="8000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See Our Sweet Creations!</a:t>
            </a:r>
            <a:endParaRPr lang="en-US" sz="8000" i="1" dirty="0">
              <a:ln>
                <a:solidFill>
                  <a:schemeClr val="bg1"/>
                </a:solidFill>
              </a:ln>
              <a:solidFill>
                <a:schemeClr val="tx2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masis MT Pro Medium" panose="02040604050005020304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DC77D-BF59-31BF-A658-F64FBEDECD84}"/>
              </a:ext>
            </a:extLst>
          </p:cNvPr>
          <p:cNvSpPr txBox="1"/>
          <p:nvPr/>
        </p:nvSpPr>
        <p:spPr>
          <a:xfrm>
            <a:off x="333702" y="172232"/>
            <a:ext cx="83657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  <a:ea typeface="+mj-ea"/>
                <a:cs typeface="+mj-cs"/>
              </a:rPr>
              <a:t>Exploring the Site: User Experience </a:t>
            </a:r>
            <a:endParaRPr lang="en-US" sz="8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6FEC87-E2F8-0257-D2A1-6C70BF1608B1}"/>
              </a:ext>
            </a:extLst>
          </p:cNvPr>
          <p:cNvSpPr txBox="1"/>
          <p:nvPr/>
        </p:nvSpPr>
        <p:spPr>
          <a:xfrm>
            <a:off x="517867" y="2542554"/>
            <a:ext cx="11671083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Discover Desserts: Learn about the origins and characteristics of Gelato, </a:t>
            </a:r>
            <a:r>
              <a:rPr lang="en-US" sz="2100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, and Ice Pops on the homepage.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Navigate Recipes: Click through to dedicated recipe pages for each dessert type.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Access Key Pages: Easily find more information via: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 Menu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 Contact Us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 About Us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Promotional Banner: Stay updated on special offers (e.g., Mid-Autumn Festival deals).</a:t>
            </a:r>
          </a:p>
        </p:txBody>
      </p:sp>
    </p:spTree>
    <p:extLst>
      <p:ext uri="{BB962C8B-B14F-4D97-AF65-F5344CB8AC3E}">
        <p14:creationId xmlns:p14="http://schemas.microsoft.com/office/powerpoint/2010/main" val="201159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ABAB"/>
            </a:gs>
            <a:gs pos="53000">
              <a:srgbClr val="E2988E"/>
            </a:gs>
            <a:gs pos="85000">
              <a:srgbClr val="B15E50"/>
            </a:gs>
            <a:gs pos="100000">
              <a:srgbClr val="5906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4066D-AAFF-15F5-41B6-F93358B87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C080E01-15BE-2CFE-6717-7D81C6E2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F03D9-9937-D574-3E9F-B9D938BDCBBC}"/>
              </a:ext>
            </a:extLst>
          </p:cNvPr>
          <p:cNvSpPr txBox="1"/>
          <p:nvPr/>
        </p:nvSpPr>
        <p:spPr>
          <a:xfrm>
            <a:off x="517868" y="2532819"/>
            <a:ext cx="11671083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Discover Desserts: Learn about the origins and characteristics of Gelato, </a:t>
            </a:r>
            <a:r>
              <a:rPr lang="en-US" sz="2100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, and Ice Pops on the homepage.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Navigate Recipes: Click through to dedicated recipe pages for each dessert type.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Access Key Pages: Easily find more information via: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 Menu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 Contact Us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 About Us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Promotional Banner: Stay updated on special offers (e.g., Mid-Autumn Festival deals).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E6DA1-2305-F3C1-2ECF-541B97612CEF}"/>
              </a:ext>
            </a:extLst>
          </p:cNvPr>
          <p:cNvSpPr txBox="1"/>
          <p:nvPr/>
        </p:nvSpPr>
        <p:spPr>
          <a:xfrm>
            <a:off x="517867" y="2542554"/>
            <a:ext cx="11671083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Homepage Introduction: Engaging descriptions of Gelato (rich, velvety, Italian) and </a:t>
            </a:r>
            <a:r>
              <a:rPr lang="en-US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 (Korean, shaved ice).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Recipe Pages: Detailed guides (linked from homepage/nav) for: 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Gelato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</a:t>
            </a:r>
            <a:r>
              <a:rPr lang="en-US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endParaRPr lang="en-US" b="1" dirty="0">
              <a:ln w="0">
                <a:solidFill>
                  <a:prstClr val="white">
                    <a:alpha val="42000"/>
                  </a:prstClr>
                </a:solidFill>
              </a:ln>
              <a:solidFill>
                <a:srgbClr val="0000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Bierstadt Display" panose="020F0502020204030204" pitchFamily="34" charset="0"/>
            </a:endParaRP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Ice Pops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Navigation Structure: 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Main links: [Recipes], [Menu], [Contact Us], [About Us]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Recipe links: [Gelato], [</a:t>
            </a:r>
            <a:r>
              <a:rPr lang="en-US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], [</a:t>
            </a:r>
            <a:r>
              <a:rPr lang="en-US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Icepop</a:t>
            </a: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]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Visual Appeal: (Implied) Use of images to showcase the desserts.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F2D69-4578-0C5E-F5B8-41DE493A7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702" y="-191826"/>
            <a:ext cx="9645635" cy="2872883"/>
          </a:xfrm>
        </p:spPr>
        <p:txBody>
          <a:bodyPr anchor="b">
            <a:noAutofit/>
          </a:bodyPr>
          <a:lstStyle/>
          <a:p>
            <a:r>
              <a:rPr lang="en-US" sz="8000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Exploring the Site: User Experience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3A8DB8-FC9B-1A14-5369-25BE5EB7D364}"/>
              </a:ext>
            </a:extLst>
          </p:cNvPr>
          <p:cNvSpPr txBox="1"/>
          <p:nvPr/>
        </p:nvSpPr>
        <p:spPr>
          <a:xfrm>
            <a:off x="333703" y="172232"/>
            <a:ext cx="67655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  <a:ea typeface="+mj-ea"/>
                <a:cs typeface="+mj-cs"/>
              </a:rPr>
              <a:t>Meet the Desserts! </a:t>
            </a:r>
            <a:endParaRPr lang="en-US" sz="8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97F460A-46A6-FC09-FABD-B7375B670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ABAB"/>
            </a:gs>
            <a:gs pos="53000">
              <a:srgbClr val="E2988E"/>
            </a:gs>
            <a:gs pos="85000">
              <a:srgbClr val="B15E50"/>
            </a:gs>
            <a:gs pos="100000">
              <a:srgbClr val="5906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584FC-288B-4D17-E5DD-6EDC2468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46DDF1B-CC36-1EE4-25BF-1E813E737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B6251-83CD-1A19-B11D-793FE3FF6131}"/>
              </a:ext>
            </a:extLst>
          </p:cNvPr>
          <p:cNvSpPr txBox="1"/>
          <p:nvPr/>
        </p:nvSpPr>
        <p:spPr>
          <a:xfrm>
            <a:off x="517868" y="2532819"/>
            <a:ext cx="11671083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Homepage Introduction: Engaging descriptions of Gelato (rich, velvety, Italian) and </a:t>
            </a:r>
            <a:r>
              <a:rPr lang="en-US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 (Korean, shaved ice).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Recipe Pages: Detailed guides (linked from homepage/nav) for: 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Gelato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</a:t>
            </a:r>
            <a:r>
              <a:rPr lang="en-US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endParaRPr lang="en-US" b="1" dirty="0">
              <a:ln w="0">
                <a:solidFill>
                  <a:prstClr val="white">
                    <a:alpha val="42000"/>
                  </a:prstClr>
                </a:solidFill>
              </a:ln>
              <a:solidFill>
                <a:srgbClr val="0000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Bierstadt Display" panose="020F0502020204030204" pitchFamily="34" charset="0"/>
            </a:endParaRP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Ice Pops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Navigation Structure: 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Main links: [Recipes], [Menu], [Contact Us], [About Us]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Recipe links: [Gelato], [</a:t>
            </a:r>
            <a:r>
              <a:rPr lang="en-US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Bingsu</a:t>
            </a: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], [</a:t>
            </a:r>
            <a:r>
              <a:rPr lang="en-US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Icepop</a:t>
            </a: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]</a:t>
            </a:r>
          </a:p>
          <a:p>
            <a:pPr lvl="0">
              <a:spcBef>
                <a:spcPts val="1000"/>
              </a:spcBef>
              <a:defRPr/>
            </a:pP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Visual Appeal: (Implied) Use of images to showcase the desserts.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4A2153-DECE-3576-E5A9-F46355488CF6}"/>
              </a:ext>
            </a:extLst>
          </p:cNvPr>
          <p:cNvSpPr txBox="1"/>
          <p:nvPr/>
        </p:nvSpPr>
        <p:spPr>
          <a:xfrm>
            <a:off x="517867" y="2542554"/>
            <a:ext cx="11671083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Html Tags: We use tags that describe the content's purpose: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&lt;header&gt;, &lt;nav&gt;, &lt;main&gt;, &lt;section&gt;, &lt;footer&gt;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&lt;h1&gt; to &lt;h6&gt; for headings, &lt;p&gt; for paragraphs, &lt;ul&gt;/&lt;</a:t>
            </a:r>
            <a:r>
              <a:rPr lang="en-US" sz="2100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ol</a:t>
            </a: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&gt; for lists.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Content Organization: HTML structures the text, images, and links into logical blocks.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Linking Pages: Uses &lt;a&gt; (anchor) tags to connect different parts of the site and external resources.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42EBF-90D5-C24D-A7F6-A89755BB3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703" y="-191826"/>
            <a:ext cx="7629198" cy="2872883"/>
          </a:xfrm>
        </p:spPr>
        <p:txBody>
          <a:bodyPr anchor="b">
            <a:noAutofit/>
          </a:bodyPr>
          <a:lstStyle/>
          <a:p>
            <a:r>
              <a:rPr lang="en-US" sz="8000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Meet the Desserts!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9D98B1-329B-4CA7-3FE6-2FB9A76D2DDB}"/>
              </a:ext>
            </a:extLst>
          </p:cNvPr>
          <p:cNvSpPr txBox="1"/>
          <p:nvPr/>
        </p:nvSpPr>
        <p:spPr>
          <a:xfrm>
            <a:off x="333703" y="172232"/>
            <a:ext cx="67655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  <a:ea typeface="+mj-ea"/>
                <a:cs typeface="+mj-cs"/>
              </a:rPr>
              <a:t>Under the Hood: HTML</a:t>
            </a:r>
            <a:endParaRPr lang="en-US" sz="8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0306830-23FB-FDF7-AC78-796F318A4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3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ABAB"/>
            </a:gs>
            <a:gs pos="53000">
              <a:srgbClr val="E2988E"/>
            </a:gs>
            <a:gs pos="85000">
              <a:srgbClr val="B15E50"/>
            </a:gs>
            <a:gs pos="100000">
              <a:srgbClr val="5906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7106E-DF37-9C3C-D1C5-7EE1105C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BD363E-525B-E317-53DB-C2C797032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581605-98AC-2BF2-E500-9050572A7B31}"/>
              </a:ext>
            </a:extLst>
          </p:cNvPr>
          <p:cNvSpPr txBox="1"/>
          <p:nvPr/>
        </p:nvSpPr>
        <p:spPr>
          <a:xfrm>
            <a:off x="517868" y="2532819"/>
            <a:ext cx="11671083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Html Tags: We use tags that describe the content's purpose: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&lt;header&gt;, &lt;nav&gt;, &lt;main&gt;, &lt;section&gt;, &lt;footer&gt;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&lt;h1&gt; to &lt;h6&gt; for headings, &lt;p&gt; for paragraphs, &lt;ul&gt;/&lt;</a:t>
            </a:r>
            <a:r>
              <a:rPr lang="en-US" sz="2100" b="1" dirty="0" err="1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ol</a:t>
            </a: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&gt; for lists.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Content Organization: HTML structures the text, images, and links into logical blocks.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Linking Pages: Uses &lt;a&gt; (anchor) tags to connect different parts of the site and external resources.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ADF6A-57E5-7857-5316-0844B74E0DD2}"/>
              </a:ext>
            </a:extLst>
          </p:cNvPr>
          <p:cNvSpPr txBox="1"/>
          <p:nvPr/>
        </p:nvSpPr>
        <p:spPr>
          <a:xfrm>
            <a:off x="517867" y="2542554"/>
            <a:ext cx="11671083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CSS:  We use CSS to control the design, look, and layout of HTML elements.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Visual Design: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Colors: Setting background colors, text colors, link colors.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Typography: Choosing fonts, font sizes, and line spacing.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Spacing: Controlling margins and padding around elements.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Layout: Arranging content blocks on the page (e.g., aligning text, positioning elements).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Interactive Elements: Styling links and buttons to indicate they are clickable.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7AC21-507D-B621-EA20-8DA3D7CA2D70}"/>
              </a:ext>
            </a:extLst>
          </p:cNvPr>
          <p:cNvSpPr txBox="1"/>
          <p:nvPr/>
        </p:nvSpPr>
        <p:spPr>
          <a:xfrm>
            <a:off x="333703" y="172232"/>
            <a:ext cx="67655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  <a:ea typeface="+mj-ea"/>
                <a:cs typeface="+mj-cs"/>
              </a:rPr>
              <a:t>Under the Hood: CSS</a:t>
            </a:r>
            <a:endParaRPr lang="en-US" sz="8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EA033-1CFC-8999-8178-F43E610D4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703" y="-191826"/>
            <a:ext cx="6994197" cy="2872883"/>
          </a:xfrm>
        </p:spPr>
        <p:txBody>
          <a:bodyPr anchor="b">
            <a:noAutofit/>
          </a:bodyPr>
          <a:lstStyle/>
          <a:p>
            <a:r>
              <a:rPr lang="en-US" sz="8000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Under the  Hood: HTML</a:t>
            </a:r>
            <a:endParaRPr lang="en-US" sz="8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98F8EA3-2499-8E14-684C-D818E6911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2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ABAB"/>
            </a:gs>
            <a:gs pos="53000">
              <a:srgbClr val="E2988E"/>
            </a:gs>
            <a:gs pos="85000">
              <a:srgbClr val="B15E50"/>
            </a:gs>
            <a:gs pos="100000">
              <a:srgbClr val="5906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BFB91-1F46-858F-6276-F1E7A7927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E2FA1D-1547-4183-CDEC-FC66290AB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F5C1D3-AEC3-B321-30AF-804CB3135CB7}"/>
              </a:ext>
            </a:extLst>
          </p:cNvPr>
          <p:cNvSpPr txBox="1"/>
          <p:nvPr/>
        </p:nvSpPr>
        <p:spPr>
          <a:xfrm>
            <a:off x="517868" y="2532819"/>
            <a:ext cx="11671083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CSS:  We use CSS to control the design, look, and layout of HTML elements.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Visual Design: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Colors: Setting background colors, text colors, link colors.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Typography: Choosing fonts, font sizes, and line spacing.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Spacing: Controlling margins and padding around elements.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Layout: Arranging content blocks on the page (e.g., aligning text, positioning elements).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Interactive Elements: Styling links and buttons to indicate they are clickable.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F163A-838C-C895-8202-15642BEC071F}"/>
              </a:ext>
            </a:extLst>
          </p:cNvPr>
          <p:cNvSpPr txBox="1"/>
          <p:nvPr/>
        </p:nvSpPr>
        <p:spPr>
          <a:xfrm>
            <a:off x="517867" y="2542554"/>
            <a:ext cx="11671083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Add Interactivity with JavaScript: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Recipe Helpers: Ingredient calculators, step-by-step toggles.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Image Galleries/Carousels: Showcase more enticing photos.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Animations: Smooth transitions, hover effects for buttons.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Enhanced User Experience: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Search Bar: Quickly find specific recipes.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Filtering: Sort recipes by type, difficulty, or ingredients.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Backend Integration: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Contact Form: Allow users to send messages directly from the site.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User Submissions: Potentially allow users to share their own dessert recipes</a:t>
            </a: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E806F-B40D-630E-1618-3736A3D79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703" y="-191826"/>
            <a:ext cx="6994197" cy="2872883"/>
          </a:xfrm>
        </p:spPr>
        <p:txBody>
          <a:bodyPr anchor="b">
            <a:noAutofit/>
          </a:bodyPr>
          <a:lstStyle/>
          <a:p>
            <a:r>
              <a:rPr lang="en-US" sz="8000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Under the  Hood: CSS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867762-1F9D-E6DB-D87D-AB8B47BFD6D9}"/>
              </a:ext>
            </a:extLst>
          </p:cNvPr>
          <p:cNvSpPr txBox="1"/>
          <p:nvPr/>
        </p:nvSpPr>
        <p:spPr>
          <a:xfrm>
            <a:off x="333702" y="172232"/>
            <a:ext cx="87594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  <a:ea typeface="+mj-ea"/>
                <a:cs typeface="+mj-cs"/>
              </a:rPr>
              <a:t>What's Next for Our Dessert Site? </a:t>
            </a:r>
            <a:endParaRPr lang="en-US" sz="8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B8303F6-8F1E-CB47-93D8-75BC67A3A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3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ABAB"/>
            </a:gs>
            <a:gs pos="53000">
              <a:srgbClr val="E2988E"/>
            </a:gs>
            <a:gs pos="85000">
              <a:srgbClr val="B15E50"/>
            </a:gs>
            <a:gs pos="100000">
              <a:srgbClr val="5906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27F53-C78D-BAB8-FD75-48F083E8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393A5ED-DC83-D1D2-7CAE-6CD64CB86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3F37E4-58DA-5D10-C5C4-930335372083}"/>
              </a:ext>
            </a:extLst>
          </p:cNvPr>
          <p:cNvSpPr txBox="1"/>
          <p:nvPr/>
        </p:nvSpPr>
        <p:spPr>
          <a:xfrm>
            <a:off x="517868" y="2532819"/>
            <a:ext cx="11671083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Add Interactivity with JavaScript: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Recipe Helpers: Ingredient calculators, step-by-step toggles.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Image Galleries/Carousels: Showcase more enticing photos.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Animations: Smooth transitions, hover effects for buttons.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Enhanced User Experience: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Search Bar: Quickly find specific recipes.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Filtering: Sort recipes by type, difficulty, or ingredients.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Backend Integration: 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Contact Form: Allow users to send messages directly from the site.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16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O  User Submissions: Potentially allow users to share their own dessert recipes</a:t>
            </a:r>
            <a:r>
              <a:rPr lang="en-US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164554-2FD9-2E62-BE53-9C0C6DF8DFCB}"/>
              </a:ext>
            </a:extLst>
          </p:cNvPr>
          <p:cNvSpPr txBox="1"/>
          <p:nvPr/>
        </p:nvSpPr>
        <p:spPr>
          <a:xfrm>
            <a:off x="517867" y="2542554"/>
            <a:ext cx="11671083" cy="286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Recap: We've explored our frozen dessert website – its function, design, and the HTML/CSS foundation.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Key Takeaway: Understanding core web technologies is crucial for building engaging online experiences.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The Journey: From a simple HTML/CSS structure to exciting future possibilities.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Questions? Open floor for any queries.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Thank You!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BF0E3-D170-9452-E1B8-C772BE2FE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703" y="-191826"/>
            <a:ext cx="7895897" cy="2872883"/>
          </a:xfrm>
        </p:spPr>
        <p:txBody>
          <a:bodyPr anchor="b">
            <a:noAutofit/>
          </a:bodyPr>
          <a:lstStyle/>
          <a:p>
            <a:r>
              <a:rPr lang="en-US" sz="8000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What's Next for Our Dessert Site? 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D412B-4EF3-3099-0E71-F08700B44CE6}"/>
              </a:ext>
            </a:extLst>
          </p:cNvPr>
          <p:cNvSpPr txBox="1"/>
          <p:nvPr/>
        </p:nvSpPr>
        <p:spPr>
          <a:xfrm>
            <a:off x="333702" y="172232"/>
            <a:ext cx="63142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  <a:ea typeface="+mj-ea"/>
                <a:cs typeface="+mj-cs"/>
              </a:rPr>
              <a:t>Sweet Success!</a:t>
            </a:r>
            <a:endParaRPr lang="en-US" sz="8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3616F9D-2457-58A8-7380-B9AB4A1D7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8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2ABAB"/>
            </a:gs>
            <a:gs pos="75000">
              <a:srgbClr val="E2988E"/>
            </a:gs>
            <a:gs pos="89000">
              <a:srgbClr val="B15E50"/>
            </a:gs>
            <a:gs pos="100000">
              <a:srgbClr val="5906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449B8-0E2B-B333-47E8-33491D3B5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BC0C6B9-C003-1328-87D8-4C89B2393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A52DD-A490-F8B1-2D16-FC0F758D4165}"/>
              </a:ext>
            </a:extLst>
          </p:cNvPr>
          <p:cNvSpPr txBox="1"/>
          <p:nvPr/>
        </p:nvSpPr>
        <p:spPr>
          <a:xfrm>
            <a:off x="517868" y="2532819"/>
            <a:ext cx="11671083" cy="286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Recap: We've explored our frozen dessert website – its function, design, and the HTML/CSS foundation.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Key Takeaway: Understanding core web technologies is crucial for building engaging online experiences.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The Journey: From a simple HTML/CSS structure to exciting future possibilities.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Questions? Open floor for any queries.</a:t>
            </a:r>
          </a:p>
          <a:p>
            <a:pPr lvl="0">
              <a:spcBef>
                <a:spcPts val="1000"/>
              </a:spcBef>
              <a:defRPr/>
            </a:pPr>
            <a:r>
              <a:rPr lang="en-US" sz="2100" b="1" dirty="0">
                <a:ln w="0">
                  <a:solidFill>
                    <a:prstClr val="white">
                      <a:alpha val="42000"/>
                    </a:prstClr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ierstadt Display" panose="020F0502020204030204" pitchFamily="34" charset="0"/>
              </a:rPr>
              <a:t>•  Thank You!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2F6988-37CB-BDD9-5235-2CEB95C33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704" y="-191826"/>
            <a:ext cx="4880848" cy="2872883"/>
          </a:xfrm>
        </p:spPr>
        <p:txBody>
          <a:bodyPr anchor="b">
            <a:noAutofit/>
          </a:bodyPr>
          <a:lstStyle/>
          <a:p>
            <a:r>
              <a:rPr lang="en-US" sz="8000" i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</a:rPr>
              <a:t>Sweet Success!</a:t>
            </a:r>
            <a:endParaRPr lang="en-US" sz="8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47AE124-E363-7A4A-85EE-D6EB6D0B1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AFB8F3-BFBF-E04A-9B02-2C105599C828}"/>
              </a:ext>
            </a:extLst>
          </p:cNvPr>
          <p:cNvSpPr txBox="1"/>
          <p:nvPr/>
        </p:nvSpPr>
        <p:spPr>
          <a:xfrm>
            <a:off x="1947104" y="2214980"/>
            <a:ext cx="82947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  <a:ea typeface="+mj-ea"/>
                <a:cs typeface="+mj-cs"/>
              </a:rPr>
              <a:t>THANK YOU </a:t>
            </a:r>
            <a:r>
              <a:rPr lang="en-US" sz="8000" b="1">
                <a:ln>
                  <a:solidFill>
                    <a:prstClr val="white"/>
                  </a:solidFill>
                </a:ln>
                <a:solidFill>
                  <a:srgbClr val="0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sis MT Pro Medium" panose="02040604050005020304" pitchFamily="18" charset="0"/>
                <a:ea typeface="+mj-ea"/>
                <a:cs typeface="+mj-cs"/>
              </a:rPr>
              <a:t>FOR LISTENING!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4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8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3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587519-68B8-473B-BF47-9923D1CF4379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2155</Words>
  <Application>Microsoft Office PowerPoint</Application>
  <PresentationFormat>Widescreen</PresentationFormat>
  <Paragraphs>164</Paragraphs>
  <Slides>9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Amasis MT Pro Medium</vt:lpstr>
      <vt:lpstr>Aptos</vt:lpstr>
      <vt:lpstr>Arial</vt:lpstr>
      <vt:lpstr>Bierstadt</vt:lpstr>
      <vt:lpstr>Bierstadt Display</vt:lpstr>
      <vt:lpstr>GestaltVTI</vt:lpstr>
      <vt:lpstr>Building Delicious Web Experiences: A Look at Our Frozen Treats </vt:lpstr>
      <vt:lpstr>Building Delicious Web Experiences: A Look at Our Frozen Treats </vt:lpstr>
      <vt:lpstr>See Our Sweet Creations!</vt:lpstr>
      <vt:lpstr>Exploring the Site: User Experience</vt:lpstr>
      <vt:lpstr>Meet the Desserts!</vt:lpstr>
      <vt:lpstr>Under the  Hood: HTML</vt:lpstr>
      <vt:lpstr>Under the  Hood: CSS</vt:lpstr>
      <vt:lpstr>What's Next for Our Dessert Site? </vt:lpstr>
      <vt:lpstr>Sweet Success!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Danh Lê Minh</dc:creator>
  <cp:lastModifiedBy>Hong Van Duc Phuong</cp:lastModifiedBy>
  <cp:revision>4</cp:revision>
  <dcterms:created xsi:type="dcterms:W3CDTF">2025-09-27T08:56:54Z</dcterms:created>
  <dcterms:modified xsi:type="dcterms:W3CDTF">2025-09-27T13:50:09Z</dcterms:modified>
</cp:coreProperties>
</file>